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21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638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0" y="1645920"/>
            <a:ext cx="36576" cy="3200400"/>
          </a:xfrm>
          <a:prstGeom prst="rect">
            <a:avLst/>
          </a:prstGeom>
          <a:solidFill>
            <a:srgbClr val="638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463040" y="1645920"/>
            <a:ext cx="8229600" cy="1371600"/>
          </a:xfrm>
          <a:prstGeom prst="rect">
            <a:avLst/>
          </a:prstGeom>
          <a:noFill/>
        </p:spPr>
        <p:txBody>
          <a:bodyPr wrap="square">
            <a:spAutoFit/>
          </a:bodyPr>
          <a:lstStyle/>
          <a:p>
            <a:pPr algn="l">
              <a:defRPr sz="3600" b="1">
                <a:solidFill>
                  <a:srgbClr val="ECF0F7"/>
                </a:solidFill>
                <a:latin typeface="Microsoft YaHei"/>
              </a:defRPr>
            </a:pPr>
            <a:r>
              <a:t>电商 AI 内容生成</a:t>
            </a:r>
          </a:p>
        </p:txBody>
      </p:sp>
      <p:sp>
        <p:nvSpPr>
          <p:cNvPr id="5" name="TextBox 4"/>
          <p:cNvSpPr txBox="1"/>
          <p:nvPr/>
        </p:nvSpPr>
        <p:spPr>
          <a:xfrm>
            <a:off x="1463040" y="2743200"/>
            <a:ext cx="8229600" cy="731520"/>
          </a:xfrm>
          <a:prstGeom prst="rect">
            <a:avLst/>
          </a:prstGeom>
          <a:noFill/>
        </p:spPr>
        <p:txBody>
          <a:bodyPr wrap="square">
            <a:spAutoFit/>
          </a:bodyPr>
          <a:lstStyle/>
          <a:p>
            <a:pPr algn="l">
              <a:defRPr sz="2000" b="0">
                <a:solidFill>
                  <a:srgbClr val="8A8F9E"/>
                </a:solidFill>
                <a:latin typeface="Microsoft YaHei"/>
              </a:defRPr>
            </a:pPr>
            <a:r>
              <a:t>工作流蓝图与视频生成适配方向</a:t>
            </a:r>
          </a:p>
        </p:txBody>
      </p:sp>
      <p:sp>
        <p:nvSpPr>
          <p:cNvPr id="6" name="TextBox 5"/>
          <p:cNvSpPr txBox="1"/>
          <p:nvPr/>
        </p:nvSpPr>
        <p:spPr>
          <a:xfrm>
            <a:off x="1463040" y="3474720"/>
            <a:ext cx="8229600" cy="548640"/>
          </a:xfrm>
          <a:prstGeom prst="rect">
            <a:avLst/>
          </a:prstGeom>
          <a:noFill/>
        </p:spPr>
        <p:txBody>
          <a:bodyPr wrap="square">
            <a:spAutoFit/>
          </a:bodyPr>
          <a:lstStyle/>
          <a:p>
            <a:pPr algn="l">
              <a:defRPr sz="1600" b="0">
                <a:solidFill>
                  <a:srgbClr val="6384FF"/>
                </a:solidFill>
                <a:latin typeface="Microsoft YaHei"/>
              </a:defRPr>
            </a:pPr>
            <a:r>
              <a:t>VIDU · 交流材料</a:t>
            </a:r>
          </a:p>
        </p:txBody>
      </p:sp>
      <p:sp>
        <p:nvSpPr>
          <p:cNvPr id="7" name="TextBox 6"/>
          <p:cNvSpPr txBox="1"/>
          <p:nvPr/>
        </p:nvSpPr>
        <p:spPr>
          <a:xfrm>
            <a:off x="1463040" y="5029200"/>
            <a:ext cx="4572000" cy="365760"/>
          </a:xfrm>
          <a:prstGeom prst="rect">
            <a:avLst/>
          </a:prstGeom>
          <a:noFill/>
        </p:spPr>
        <p:txBody>
          <a:bodyPr wrap="square">
            <a:spAutoFit/>
          </a:bodyPr>
          <a:lstStyle/>
          <a:p>
            <a:pPr algn="l">
              <a:defRPr sz="1200" b="0">
                <a:solidFill>
                  <a:srgbClr val="8A8F9E"/>
                </a:solidFill>
                <a:latin typeface="Microsoft YaHei"/>
              </a:defRPr>
            </a:pPr>
            <a:r>
              <a:t>电商 AI 落地顾问 · 海风</a:t>
            </a:r>
          </a:p>
        </p:txBody>
      </p:sp>
      <p:sp>
        <p:nvSpPr>
          <p:cNvPr id="8" name="TextBox 7"/>
          <p:cNvSpPr txBox="1"/>
          <p:nvPr/>
        </p:nvSpPr>
        <p:spPr>
          <a:xfrm>
            <a:off x="1463040" y="5394960"/>
            <a:ext cx="4572000" cy="365760"/>
          </a:xfrm>
          <a:prstGeom prst="rect">
            <a:avLst/>
          </a:prstGeom>
          <a:noFill/>
        </p:spPr>
        <p:txBody>
          <a:bodyPr wrap="square">
            <a:spAutoFit/>
          </a:bodyPr>
          <a:lstStyle/>
          <a:p>
            <a:pPr algn="l">
              <a:defRPr sz="1100" b="0">
                <a:solidFill>
                  <a:srgbClr val="8A8F9E"/>
                </a:solidFill>
                <a:latin typeface="Microsoft YaHei"/>
              </a:defRPr>
            </a:pPr>
            <a:r>
              <a:t>2026 年 6 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21A"/>
        </a:solidFill>
        <a:effectLst/>
      </p:bgPr>
    </p:bg>
    <p:spTree>
      <p:nvGrpSpPr>
        <p:cNvPr id="1" name=""/>
        <p:cNvGrpSpPr/>
        <p:nvPr/>
      </p:nvGrpSpPr>
      <p:grpSpPr/>
      <p:sp>
        <p:nvSpPr>
          <p:cNvPr id="2" name="Rectangle 1"/>
          <p:cNvSpPr/>
          <p:nvPr/>
        </p:nvSpPr>
        <p:spPr>
          <a:xfrm>
            <a:off x="0" y="0"/>
            <a:ext cx="12191695" cy="36576"/>
          </a:xfrm>
          <a:prstGeom prst="rect">
            <a:avLst/>
          </a:prstGeom>
          <a:solidFill>
            <a:srgbClr val="638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9144000" cy="548640"/>
          </a:xfrm>
          <a:prstGeom prst="rect">
            <a:avLst/>
          </a:prstGeom>
          <a:noFill/>
        </p:spPr>
        <p:txBody>
          <a:bodyPr wrap="square">
            <a:spAutoFit/>
          </a:bodyPr>
          <a:lstStyle/>
          <a:p>
            <a:pPr algn="l">
              <a:defRPr sz="2800" b="1">
                <a:solidFill>
                  <a:srgbClr val="ECF0F7"/>
                </a:solidFill>
                <a:latin typeface="Microsoft YaHei"/>
              </a:defRPr>
            </a:pPr>
            <a:r>
              <a:t>电商内容生产的当前困局</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400" b="0">
                <a:solidFill>
                  <a:srgbClr val="8A8F9E"/>
                </a:solidFill>
                <a:latin typeface="Microsoft YaHei"/>
              </a:defRPr>
            </a:pPr>
            <a:r>
              <a:t>电商品牌在视频化转型中面临的三个核心矛盾</a:t>
            </a:r>
          </a:p>
        </p:txBody>
      </p:sp>
      <p:sp>
        <p:nvSpPr>
          <p:cNvPr id="5" name="Rounded Rectangle 4"/>
          <p:cNvSpPr/>
          <p:nvPr/>
        </p:nvSpPr>
        <p:spPr>
          <a:xfrm>
            <a:off x="731520" y="1737360"/>
            <a:ext cx="3291840" cy="4114800"/>
          </a:xfrm>
          <a:prstGeom prst="roundRect">
            <a:avLst>
              <a:gd name="adj" fmla="val 5000"/>
            </a:avLst>
          </a:prstGeom>
          <a:solidFill>
            <a:srgbClr val="1A1E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737360"/>
            <a:ext cx="3291840" cy="36576"/>
          </a:xfrm>
          <a:prstGeom prst="rect">
            <a:avLst/>
          </a:prstGeom>
          <a:solidFill>
            <a:srgbClr val="638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011680"/>
            <a:ext cx="2743200" cy="457200"/>
          </a:xfrm>
          <a:prstGeom prst="rect">
            <a:avLst/>
          </a:prstGeom>
          <a:noFill/>
        </p:spPr>
        <p:txBody>
          <a:bodyPr wrap="square">
            <a:spAutoFit/>
          </a:bodyPr>
          <a:lstStyle/>
          <a:p>
            <a:pPr algn="l">
              <a:defRPr sz="1800" b="1">
                <a:solidFill>
                  <a:srgbClr val="6384FF"/>
                </a:solidFill>
                <a:latin typeface="Microsoft YaHei"/>
              </a:defRPr>
            </a:pPr>
            <a:r>
              <a:t>效率 vs 质量</a:t>
            </a:r>
          </a:p>
        </p:txBody>
      </p:sp>
      <p:sp>
        <p:nvSpPr>
          <p:cNvPr id="8" name="TextBox 7"/>
          <p:cNvSpPr txBox="1"/>
          <p:nvPr/>
        </p:nvSpPr>
        <p:spPr>
          <a:xfrm>
            <a:off x="1005840" y="2651760"/>
            <a:ext cx="2743200" cy="2743200"/>
          </a:xfrm>
          <a:prstGeom prst="rect">
            <a:avLst/>
          </a:prstGeom>
          <a:noFill/>
        </p:spPr>
        <p:txBody>
          <a:bodyPr wrap="square">
            <a:spAutoFit/>
          </a:bodyPr>
          <a:lstStyle/>
          <a:p>
            <a:pPr algn="l">
              <a:defRPr sz="1300" b="0">
                <a:solidFill>
                  <a:srgbClr val="8A8F9E"/>
                </a:solidFill>
                <a:latin typeface="Microsoft YaHei"/>
              </a:defRPr>
            </a:pPr>
            <a:r>
              <a:t>品牌方每天需为数百 SKU 生成商品视频，</a:t>
            </a:r>
            <a:br/>
            <a:r>
              <a:t>单条精修成本高、周期长。</a:t>
            </a:r>
            <a:br/>
            <a:r>
              <a:t>批量模板化的结果往往是受众审美疲劳。</a:t>
            </a:r>
          </a:p>
        </p:txBody>
      </p:sp>
      <p:sp>
        <p:nvSpPr>
          <p:cNvPr id="9" name="Rounded Rectangle 8"/>
          <p:cNvSpPr/>
          <p:nvPr/>
        </p:nvSpPr>
        <p:spPr>
          <a:xfrm>
            <a:off x="4389120" y="1737360"/>
            <a:ext cx="3291840" cy="4114800"/>
          </a:xfrm>
          <a:prstGeom prst="roundRect">
            <a:avLst>
              <a:gd name="adj" fmla="val 5000"/>
            </a:avLst>
          </a:prstGeom>
          <a:solidFill>
            <a:srgbClr val="1A1E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1737360"/>
            <a:ext cx="3291840" cy="36576"/>
          </a:xfrm>
          <a:prstGeom prst="rect">
            <a:avLst/>
          </a:prstGeom>
          <a:solidFill>
            <a:srgbClr val="638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2011680"/>
            <a:ext cx="2743200" cy="457200"/>
          </a:xfrm>
          <a:prstGeom prst="rect">
            <a:avLst/>
          </a:prstGeom>
          <a:noFill/>
        </p:spPr>
        <p:txBody>
          <a:bodyPr wrap="square">
            <a:spAutoFit/>
          </a:bodyPr>
          <a:lstStyle/>
          <a:p>
            <a:pPr algn="l">
              <a:defRPr sz="1800" b="1">
                <a:solidFill>
                  <a:srgbClr val="6384FF"/>
                </a:solidFill>
                <a:latin typeface="Microsoft YaHei"/>
              </a:defRPr>
            </a:pPr>
            <a:r>
              <a:t>一致性 vs 多样性</a:t>
            </a:r>
          </a:p>
        </p:txBody>
      </p:sp>
      <p:sp>
        <p:nvSpPr>
          <p:cNvPr id="12" name="TextBox 11"/>
          <p:cNvSpPr txBox="1"/>
          <p:nvPr/>
        </p:nvSpPr>
        <p:spPr>
          <a:xfrm>
            <a:off x="4663440" y="2651760"/>
            <a:ext cx="2743200" cy="2743200"/>
          </a:xfrm>
          <a:prstGeom prst="rect">
            <a:avLst/>
          </a:prstGeom>
          <a:noFill/>
        </p:spPr>
        <p:txBody>
          <a:bodyPr wrap="square">
            <a:spAutoFit/>
          </a:bodyPr>
          <a:lstStyle/>
          <a:p>
            <a:pPr algn="l">
              <a:defRPr sz="1300" b="0">
                <a:solidFill>
                  <a:srgbClr val="8A8F9E"/>
                </a:solidFill>
                <a:latin typeface="Microsoft YaHei"/>
              </a:defRPr>
            </a:pPr>
            <a:r>
              <a:t>同款商品需适配多平台（淘宝/抖音/小红书/拼多多），</a:t>
            </a:r>
            <a:br/>
            <a:r>
              <a:t>既要保证品牌视觉一致性，</a:t>
            </a:r>
            <a:br/>
            <a:r>
              <a:t>又要满足各平台的内容节奏差异。</a:t>
            </a:r>
          </a:p>
        </p:txBody>
      </p:sp>
      <p:sp>
        <p:nvSpPr>
          <p:cNvPr id="13" name="Rounded Rectangle 12"/>
          <p:cNvSpPr/>
          <p:nvPr/>
        </p:nvSpPr>
        <p:spPr>
          <a:xfrm>
            <a:off x="8046720" y="1737360"/>
            <a:ext cx="3291840" cy="4114800"/>
          </a:xfrm>
          <a:prstGeom prst="roundRect">
            <a:avLst>
              <a:gd name="adj" fmla="val 5000"/>
            </a:avLst>
          </a:prstGeom>
          <a:solidFill>
            <a:srgbClr val="1A1E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6720" y="1737360"/>
            <a:ext cx="3291840" cy="36576"/>
          </a:xfrm>
          <a:prstGeom prst="rect">
            <a:avLst/>
          </a:prstGeom>
          <a:solidFill>
            <a:srgbClr val="638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2011680"/>
            <a:ext cx="2743200" cy="457200"/>
          </a:xfrm>
          <a:prstGeom prst="rect">
            <a:avLst/>
          </a:prstGeom>
          <a:noFill/>
        </p:spPr>
        <p:txBody>
          <a:bodyPr wrap="square">
            <a:spAutoFit/>
          </a:bodyPr>
          <a:lstStyle/>
          <a:p>
            <a:pPr algn="l">
              <a:defRPr sz="1800" b="1">
                <a:solidFill>
                  <a:srgbClr val="6384FF"/>
                </a:solidFill>
                <a:latin typeface="Microsoft YaHei"/>
              </a:defRPr>
            </a:pPr>
            <a:r>
              <a:t>技术门槛 vs 业务需求</a:t>
            </a:r>
          </a:p>
        </p:txBody>
      </p:sp>
      <p:sp>
        <p:nvSpPr>
          <p:cNvPr id="16" name="TextBox 15"/>
          <p:cNvSpPr txBox="1"/>
          <p:nvPr/>
        </p:nvSpPr>
        <p:spPr>
          <a:xfrm>
            <a:off x="8321040" y="2651760"/>
            <a:ext cx="2743200" cy="2743200"/>
          </a:xfrm>
          <a:prstGeom prst="rect">
            <a:avLst/>
          </a:prstGeom>
          <a:noFill/>
        </p:spPr>
        <p:txBody>
          <a:bodyPr wrap="square">
            <a:spAutoFit/>
          </a:bodyPr>
          <a:lstStyle/>
          <a:p>
            <a:pPr algn="l">
              <a:defRPr sz="1300" b="0">
                <a:solidFill>
                  <a:srgbClr val="8A8F9E"/>
                </a:solidFill>
                <a:latin typeface="Microsoft YaHei"/>
              </a:defRPr>
            </a:pPr>
            <a:r>
              <a:t>视频生成技术迭代快，</a:t>
            </a:r>
            <a:br/>
            <a:r>
              <a:t>品牌内部缺乏专业团队跟进。</a:t>
            </a:r>
            <a:br/>
            <a:r>
              <a:t>AI 模型的选择、部署、调优成为新的能力瓶颈。</a:t>
            </a:r>
          </a:p>
        </p:txBody>
      </p:sp>
      <p:sp>
        <p:nvSpPr>
          <p:cNvPr id="17" name="TextBox 16"/>
          <p:cNvSpPr txBox="1"/>
          <p:nvPr/>
        </p:nvSpPr>
        <p:spPr>
          <a:xfrm>
            <a:off x="731520" y="6217920"/>
            <a:ext cx="9144000" cy="365760"/>
          </a:xfrm>
          <a:prstGeom prst="rect">
            <a:avLst/>
          </a:prstGeom>
          <a:noFill/>
        </p:spPr>
        <p:txBody>
          <a:bodyPr wrap="square">
            <a:spAutoFit/>
          </a:bodyPr>
          <a:lstStyle/>
          <a:p>
            <a:pPr algn="l">
              <a:defRPr sz="1100" b="0">
                <a:solidFill>
                  <a:srgbClr val="636373"/>
                </a:solidFill>
                <a:latin typeface="Microsoft YaHei"/>
              </a:defRPr>
            </a:pPr>
            <a:r>
              <a:t>这些矛盾的底层，指向同一个问题：视频生成在电商场景的工程化落地水平，远落后于模型本身的生成质量。</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21A"/>
        </a:solidFill>
        <a:effectLst/>
      </p:bgPr>
    </p:bg>
    <p:spTree>
      <p:nvGrpSpPr>
        <p:cNvPr id="1" name=""/>
        <p:cNvGrpSpPr/>
        <p:nvPr/>
      </p:nvGrpSpPr>
      <p:grpSpPr/>
      <p:sp>
        <p:nvSpPr>
          <p:cNvPr id="2" name="Rectangle 1"/>
          <p:cNvSpPr/>
          <p:nvPr/>
        </p:nvSpPr>
        <p:spPr>
          <a:xfrm>
            <a:off x="0" y="0"/>
            <a:ext cx="12191695" cy="36576"/>
          </a:xfrm>
          <a:prstGeom prst="rect">
            <a:avLst/>
          </a:prstGeom>
          <a:solidFill>
            <a:srgbClr val="638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9144000" cy="548640"/>
          </a:xfrm>
          <a:prstGeom prst="rect">
            <a:avLst/>
          </a:prstGeom>
          <a:noFill/>
        </p:spPr>
        <p:txBody>
          <a:bodyPr wrap="square">
            <a:spAutoFit/>
          </a:bodyPr>
          <a:lstStyle/>
          <a:p>
            <a:pPr algn="l">
              <a:defRPr sz="2800" b="1">
                <a:solidFill>
                  <a:srgbClr val="ECF0F7"/>
                </a:solidFill>
                <a:latin typeface="Microsoft YaHei"/>
              </a:defRPr>
            </a:pPr>
            <a:r>
              <a:t>理想的工作流蓝图</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400" b="0">
                <a:solidFill>
                  <a:srgbClr val="8A8F9E"/>
                </a:solidFill>
                <a:latin typeface="Microsoft YaHei"/>
              </a:defRPr>
            </a:pPr>
            <a:r>
              <a:t>从商品数据到多平台视频的全链路架构（概念示意）</a:t>
            </a:r>
          </a:p>
        </p:txBody>
      </p:sp>
      <p:sp>
        <p:nvSpPr>
          <p:cNvPr id="5" name="Rounded Rectangle 4"/>
          <p:cNvSpPr/>
          <p:nvPr/>
        </p:nvSpPr>
        <p:spPr>
          <a:xfrm>
            <a:off x="548640" y="1828800"/>
            <a:ext cx="1920240" cy="2560320"/>
          </a:xfrm>
          <a:prstGeom prst="roundRect">
            <a:avLst>
              <a:gd name="adj" fmla="val 5000"/>
            </a:avLst>
          </a:prstGeom>
          <a:solidFill>
            <a:srgbClr val="1A1E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1920240" cy="36576"/>
          </a:xfrm>
          <a:prstGeom prst="rect">
            <a:avLst/>
          </a:prstGeom>
          <a:solidFill>
            <a:srgbClr val="638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103120"/>
            <a:ext cx="1554480" cy="731520"/>
          </a:xfrm>
          <a:prstGeom prst="rect">
            <a:avLst/>
          </a:prstGeom>
          <a:noFill/>
        </p:spPr>
        <p:txBody>
          <a:bodyPr wrap="square">
            <a:spAutoFit/>
          </a:bodyPr>
          <a:lstStyle/>
          <a:p>
            <a:pPr algn="l">
              <a:defRPr sz="1600" b="1">
                <a:solidFill>
                  <a:srgbClr val="6384FF"/>
                </a:solidFill>
                <a:latin typeface="Microsoft YaHei"/>
              </a:defRPr>
            </a:pPr>
            <a:r>
              <a:t>商品数据</a:t>
            </a:r>
            <a:br/>
            <a:r>
              <a:t>解析</a:t>
            </a:r>
          </a:p>
        </p:txBody>
      </p:sp>
      <p:sp>
        <p:nvSpPr>
          <p:cNvPr id="8" name="TextBox 7"/>
          <p:cNvSpPr txBox="1"/>
          <p:nvPr/>
        </p:nvSpPr>
        <p:spPr>
          <a:xfrm>
            <a:off x="731520" y="3017520"/>
            <a:ext cx="1554480" cy="1280160"/>
          </a:xfrm>
          <a:prstGeom prst="rect">
            <a:avLst/>
          </a:prstGeom>
          <a:noFill/>
        </p:spPr>
        <p:txBody>
          <a:bodyPr wrap="square">
            <a:spAutoFit/>
          </a:bodyPr>
          <a:lstStyle/>
          <a:p>
            <a:pPr algn="l">
              <a:defRPr sz="1100" b="0">
                <a:solidFill>
                  <a:srgbClr val="8A8F9E"/>
                </a:solidFill>
                <a:latin typeface="Microsoft YaHei"/>
              </a:defRPr>
            </a:pPr>
            <a:r>
              <a:t>SPU/SKU 结构</a:t>
            </a:r>
            <a:br/>
            <a:r>
              <a:t>类目属性</a:t>
            </a:r>
            <a:br/>
            <a:r>
              <a:t>价格库存</a:t>
            </a:r>
          </a:p>
        </p:txBody>
      </p:sp>
      <p:sp>
        <p:nvSpPr>
          <p:cNvPr id="9" name="Right Arrow 8"/>
          <p:cNvSpPr/>
          <p:nvPr/>
        </p:nvSpPr>
        <p:spPr>
          <a:xfrm>
            <a:off x="2542032" y="2834640"/>
            <a:ext cx="182880" cy="365760"/>
          </a:xfrm>
          <a:prstGeom prst="rightArrow">
            <a:avLst/>
          </a:prstGeom>
          <a:solidFill>
            <a:srgbClr val="3A3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788920" y="1828800"/>
            <a:ext cx="1920240" cy="2560320"/>
          </a:xfrm>
          <a:prstGeom prst="roundRect">
            <a:avLst>
              <a:gd name="adj" fmla="val 5000"/>
            </a:avLst>
          </a:prstGeom>
          <a:solidFill>
            <a:srgbClr val="1A1E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88920" y="1828800"/>
            <a:ext cx="1920240" cy="365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71800" y="2103120"/>
            <a:ext cx="1554480" cy="731520"/>
          </a:xfrm>
          <a:prstGeom prst="rect">
            <a:avLst/>
          </a:prstGeom>
          <a:noFill/>
        </p:spPr>
        <p:txBody>
          <a:bodyPr wrap="square">
            <a:spAutoFit/>
          </a:bodyPr>
          <a:lstStyle/>
          <a:p>
            <a:pPr algn="l">
              <a:defRPr sz="1600" b="1">
                <a:solidFill>
                  <a:srgbClr val="7C3AED"/>
                </a:solidFill>
                <a:latin typeface="Microsoft YaHei"/>
              </a:defRPr>
            </a:pPr>
            <a:r>
              <a:t>文案</a:t>
            </a:r>
            <a:br/>
            <a:r>
              <a:t>生成</a:t>
            </a:r>
          </a:p>
        </p:txBody>
      </p:sp>
      <p:sp>
        <p:nvSpPr>
          <p:cNvPr id="13" name="TextBox 12"/>
          <p:cNvSpPr txBox="1"/>
          <p:nvPr/>
        </p:nvSpPr>
        <p:spPr>
          <a:xfrm>
            <a:off x="2971800" y="3017520"/>
            <a:ext cx="1554480" cy="1280160"/>
          </a:xfrm>
          <a:prstGeom prst="rect">
            <a:avLst/>
          </a:prstGeom>
          <a:noFill/>
        </p:spPr>
        <p:txBody>
          <a:bodyPr wrap="square">
            <a:spAutoFit/>
          </a:bodyPr>
          <a:lstStyle/>
          <a:p>
            <a:pPr algn="l">
              <a:defRPr sz="1100" b="0">
                <a:solidFill>
                  <a:srgbClr val="8A8F9E"/>
                </a:solidFill>
                <a:latin typeface="Microsoft YaHei"/>
              </a:defRPr>
            </a:pPr>
            <a:r>
              <a:t>卖点提炼</a:t>
            </a:r>
            <a:br/>
            <a:r>
              <a:t>场景描述</a:t>
            </a:r>
            <a:br/>
            <a:r>
              <a:t>平台适配</a:t>
            </a:r>
          </a:p>
        </p:txBody>
      </p:sp>
      <p:sp>
        <p:nvSpPr>
          <p:cNvPr id="14" name="Right Arrow 13"/>
          <p:cNvSpPr/>
          <p:nvPr/>
        </p:nvSpPr>
        <p:spPr>
          <a:xfrm>
            <a:off x="4782312" y="2834640"/>
            <a:ext cx="182880" cy="365760"/>
          </a:xfrm>
          <a:prstGeom prst="rightArrow">
            <a:avLst/>
          </a:prstGeom>
          <a:solidFill>
            <a:srgbClr val="3A3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29200" y="1828800"/>
            <a:ext cx="1920240" cy="2560320"/>
          </a:xfrm>
          <a:prstGeom prst="roundRect">
            <a:avLst>
              <a:gd name="adj" fmla="val 5000"/>
            </a:avLst>
          </a:prstGeom>
          <a:solidFill>
            <a:srgbClr val="1A1E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0" y="1828800"/>
            <a:ext cx="1920240" cy="36576"/>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12080" y="2103120"/>
            <a:ext cx="1554480" cy="731520"/>
          </a:xfrm>
          <a:prstGeom prst="rect">
            <a:avLst/>
          </a:prstGeom>
          <a:noFill/>
        </p:spPr>
        <p:txBody>
          <a:bodyPr wrap="square">
            <a:spAutoFit/>
          </a:bodyPr>
          <a:lstStyle/>
          <a:p>
            <a:pPr algn="l">
              <a:defRPr sz="1600" b="1">
                <a:solidFill>
                  <a:srgbClr val="FF6B6B"/>
                </a:solidFill>
                <a:latin typeface="Microsoft YaHei"/>
              </a:defRPr>
            </a:pPr>
            <a:r>
              <a:t>视觉</a:t>
            </a:r>
            <a:br/>
            <a:r>
              <a:t>方案</a:t>
            </a:r>
          </a:p>
        </p:txBody>
      </p:sp>
      <p:sp>
        <p:nvSpPr>
          <p:cNvPr id="18" name="TextBox 17"/>
          <p:cNvSpPr txBox="1"/>
          <p:nvPr/>
        </p:nvSpPr>
        <p:spPr>
          <a:xfrm>
            <a:off x="5212080" y="3017520"/>
            <a:ext cx="1554480" cy="1280160"/>
          </a:xfrm>
          <a:prstGeom prst="rect">
            <a:avLst/>
          </a:prstGeom>
          <a:noFill/>
        </p:spPr>
        <p:txBody>
          <a:bodyPr wrap="square">
            <a:spAutoFit/>
          </a:bodyPr>
          <a:lstStyle/>
          <a:p>
            <a:pPr algn="l">
              <a:defRPr sz="1100" b="0">
                <a:solidFill>
                  <a:srgbClr val="8A8F9E"/>
                </a:solidFill>
                <a:latin typeface="Microsoft YaHei"/>
              </a:defRPr>
            </a:pPr>
            <a:r>
              <a:t>分镜设计</a:t>
            </a:r>
            <a:br/>
            <a:r>
              <a:t>背景/道具</a:t>
            </a:r>
            <a:br/>
            <a:r>
              <a:t>风格统一</a:t>
            </a:r>
          </a:p>
        </p:txBody>
      </p:sp>
      <p:sp>
        <p:nvSpPr>
          <p:cNvPr id="19" name="Right Arrow 18"/>
          <p:cNvSpPr/>
          <p:nvPr/>
        </p:nvSpPr>
        <p:spPr>
          <a:xfrm>
            <a:off x="7022592" y="2834640"/>
            <a:ext cx="182880" cy="365760"/>
          </a:xfrm>
          <a:prstGeom prst="rightArrow">
            <a:avLst/>
          </a:prstGeom>
          <a:solidFill>
            <a:srgbClr val="3A3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269480" y="1828800"/>
            <a:ext cx="1920240" cy="2560320"/>
          </a:xfrm>
          <a:prstGeom prst="roundRect">
            <a:avLst>
              <a:gd name="adj" fmla="val 5000"/>
            </a:avLst>
          </a:prstGeom>
          <a:solidFill>
            <a:srgbClr val="1A1E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269480" y="1828800"/>
            <a:ext cx="1920240" cy="36576"/>
          </a:xfrm>
          <a:prstGeom prst="rect">
            <a:avLst/>
          </a:prstGeom>
          <a:solidFill>
            <a:srgbClr val="FFA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52360" y="2103120"/>
            <a:ext cx="1554480" cy="731520"/>
          </a:xfrm>
          <a:prstGeom prst="rect">
            <a:avLst/>
          </a:prstGeom>
          <a:noFill/>
        </p:spPr>
        <p:txBody>
          <a:bodyPr wrap="square">
            <a:spAutoFit/>
          </a:bodyPr>
          <a:lstStyle/>
          <a:p>
            <a:pPr algn="l">
              <a:defRPr sz="1600" b="1">
                <a:solidFill>
                  <a:srgbClr val="FFA53A"/>
                </a:solidFill>
                <a:latin typeface="Microsoft YaHei"/>
              </a:defRPr>
            </a:pPr>
            <a:r>
              <a:t>视频</a:t>
            </a:r>
            <a:br/>
            <a:r>
              <a:t>生成</a:t>
            </a:r>
          </a:p>
        </p:txBody>
      </p:sp>
      <p:sp>
        <p:nvSpPr>
          <p:cNvPr id="23" name="TextBox 22"/>
          <p:cNvSpPr txBox="1"/>
          <p:nvPr/>
        </p:nvSpPr>
        <p:spPr>
          <a:xfrm>
            <a:off x="7452360" y="3017520"/>
            <a:ext cx="1554480" cy="1280160"/>
          </a:xfrm>
          <a:prstGeom prst="rect">
            <a:avLst/>
          </a:prstGeom>
          <a:noFill/>
        </p:spPr>
        <p:txBody>
          <a:bodyPr wrap="square">
            <a:spAutoFit/>
          </a:bodyPr>
          <a:lstStyle/>
          <a:p>
            <a:pPr algn="l">
              <a:defRPr sz="1100" b="0">
                <a:solidFill>
                  <a:srgbClr val="8A8F9E"/>
                </a:solidFill>
                <a:latin typeface="Microsoft YaHei"/>
              </a:defRPr>
            </a:pPr>
            <a:r>
              <a:t>文生视频</a:t>
            </a:r>
            <a:br/>
            <a:r>
              <a:t>图生视频</a:t>
            </a:r>
            <a:br/>
            <a:r>
              <a:t>批量编排</a:t>
            </a:r>
          </a:p>
        </p:txBody>
      </p:sp>
      <p:sp>
        <p:nvSpPr>
          <p:cNvPr id="24" name="Right Arrow 23"/>
          <p:cNvSpPr/>
          <p:nvPr/>
        </p:nvSpPr>
        <p:spPr>
          <a:xfrm>
            <a:off x="9262872" y="2834640"/>
            <a:ext cx="182880" cy="365760"/>
          </a:xfrm>
          <a:prstGeom prst="rightArrow">
            <a:avLst/>
          </a:prstGeom>
          <a:solidFill>
            <a:srgbClr val="3A3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509760" y="1828800"/>
            <a:ext cx="1920240" cy="2560320"/>
          </a:xfrm>
          <a:prstGeom prst="roundRect">
            <a:avLst>
              <a:gd name="adj" fmla="val 5000"/>
            </a:avLst>
          </a:prstGeom>
          <a:solidFill>
            <a:srgbClr val="1A1E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509760" y="1828800"/>
            <a:ext cx="1920240" cy="36576"/>
          </a:xfrm>
          <a:prstGeom prst="rect">
            <a:avLst/>
          </a:prstGeom>
          <a:solidFill>
            <a:srgbClr val="51CF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0" y="2103120"/>
            <a:ext cx="1554480" cy="731520"/>
          </a:xfrm>
          <a:prstGeom prst="rect">
            <a:avLst/>
          </a:prstGeom>
          <a:noFill/>
        </p:spPr>
        <p:txBody>
          <a:bodyPr wrap="square">
            <a:spAutoFit/>
          </a:bodyPr>
          <a:lstStyle/>
          <a:p>
            <a:pPr algn="l">
              <a:defRPr sz="1600" b="1">
                <a:solidFill>
                  <a:srgbClr val="51CF66"/>
                </a:solidFill>
                <a:latin typeface="Microsoft YaHei"/>
              </a:defRPr>
            </a:pPr>
            <a:r>
              <a:t>多平台</a:t>
            </a:r>
            <a:br/>
            <a:r>
              <a:t>发布</a:t>
            </a:r>
          </a:p>
        </p:txBody>
      </p:sp>
      <p:sp>
        <p:nvSpPr>
          <p:cNvPr id="28" name="TextBox 27"/>
          <p:cNvSpPr txBox="1"/>
          <p:nvPr/>
        </p:nvSpPr>
        <p:spPr>
          <a:xfrm>
            <a:off x="9692640" y="3017520"/>
            <a:ext cx="1554480" cy="1280160"/>
          </a:xfrm>
          <a:prstGeom prst="rect">
            <a:avLst/>
          </a:prstGeom>
          <a:noFill/>
        </p:spPr>
        <p:txBody>
          <a:bodyPr wrap="square">
            <a:spAutoFit/>
          </a:bodyPr>
          <a:lstStyle/>
          <a:p>
            <a:pPr algn="l">
              <a:defRPr sz="1100" b="0">
                <a:solidFill>
                  <a:srgbClr val="8A8F9E"/>
                </a:solidFill>
                <a:latin typeface="Microsoft YaHei"/>
              </a:defRPr>
            </a:pPr>
            <a:r>
              <a:t>格式适配</a:t>
            </a:r>
            <a:br/>
            <a:r>
              <a:t>A/B 测试</a:t>
            </a:r>
            <a:br/>
            <a:r>
              <a:t>效果追踪</a:t>
            </a:r>
          </a:p>
        </p:txBody>
      </p:sp>
      <p:sp>
        <p:nvSpPr>
          <p:cNvPr id="29" name="TextBox 28"/>
          <p:cNvSpPr txBox="1"/>
          <p:nvPr/>
        </p:nvSpPr>
        <p:spPr>
          <a:xfrm>
            <a:off x="731520" y="4754880"/>
            <a:ext cx="10058400" cy="365760"/>
          </a:xfrm>
          <a:prstGeom prst="rect">
            <a:avLst/>
          </a:prstGeom>
          <a:noFill/>
        </p:spPr>
        <p:txBody>
          <a:bodyPr wrap="square">
            <a:spAutoFit/>
          </a:bodyPr>
          <a:lstStyle/>
          <a:p>
            <a:pPr algn="l">
              <a:defRPr sz="1200" b="0">
                <a:solidFill>
                  <a:srgbClr val="6384FF"/>
                </a:solidFill>
                <a:latin typeface="Microsoft YaHei"/>
              </a:defRPr>
            </a:pPr>
            <a:r>
              <a:t>视频生成环节（第4节点）是整个流程的技术核心，也是当前与模型厂协作的关键对接点。</a:t>
            </a:r>
          </a:p>
        </p:txBody>
      </p:sp>
      <p:sp>
        <p:nvSpPr>
          <p:cNvPr id="30" name="Rounded Rectangle 29"/>
          <p:cNvSpPr/>
          <p:nvPr/>
        </p:nvSpPr>
        <p:spPr>
          <a:xfrm>
            <a:off x="548640" y="5303520"/>
            <a:ext cx="10972800" cy="914400"/>
          </a:xfrm>
          <a:prstGeom prst="roundRect">
            <a:avLst>
              <a:gd name="adj" fmla="val 5000"/>
            </a:avLst>
          </a:prstGeom>
          <a:solidFill>
            <a:srgbClr val="1A1E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5394960"/>
            <a:ext cx="10424160" cy="731520"/>
          </a:xfrm>
          <a:prstGeom prst="rect">
            <a:avLst/>
          </a:prstGeom>
          <a:noFill/>
        </p:spPr>
        <p:txBody>
          <a:bodyPr wrap="square">
            <a:spAutoFit/>
          </a:bodyPr>
          <a:lstStyle/>
          <a:p>
            <a:pPr algn="l">
              <a:defRPr sz="1200" b="0">
                <a:solidFill>
                  <a:srgbClr val="8A8F9E"/>
                </a:solidFill>
                <a:latin typeface="Microsoft YaHei"/>
              </a:defRPr>
            </a:pPr>
            <a:r>
              <a:t>底层基础设施：商品知识库（飞书多维表格） | 工作流引擎（可视化编排） | 素材资产库 | 质量评估框架</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21A"/>
        </a:solidFill>
        <a:effectLst/>
      </p:bgPr>
    </p:bg>
    <p:spTree>
      <p:nvGrpSpPr>
        <p:cNvPr id="1" name=""/>
        <p:cNvGrpSpPr/>
        <p:nvPr/>
      </p:nvGrpSpPr>
      <p:grpSpPr/>
      <p:sp>
        <p:nvSpPr>
          <p:cNvPr id="2" name="Rectangle 1"/>
          <p:cNvSpPr/>
          <p:nvPr/>
        </p:nvSpPr>
        <p:spPr>
          <a:xfrm>
            <a:off x="0" y="0"/>
            <a:ext cx="12191695" cy="36576"/>
          </a:xfrm>
          <a:prstGeom prst="rect">
            <a:avLst/>
          </a:prstGeom>
          <a:solidFill>
            <a:srgbClr val="638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9144000" cy="548640"/>
          </a:xfrm>
          <a:prstGeom prst="rect">
            <a:avLst/>
          </a:prstGeom>
          <a:noFill/>
        </p:spPr>
        <p:txBody>
          <a:bodyPr wrap="square">
            <a:spAutoFit/>
          </a:bodyPr>
          <a:lstStyle/>
          <a:p>
            <a:pPr algn="l">
              <a:defRPr sz="2800" b="1">
                <a:solidFill>
                  <a:srgbClr val="ECF0F7"/>
                </a:solidFill>
                <a:latin typeface="Microsoft YaHei"/>
              </a:defRPr>
            </a:pPr>
            <a:r>
              <a:t>视频生成的 3 个关键瓶颈</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400" b="0">
                <a:solidFill>
                  <a:srgbClr val="8A8F9E"/>
                </a:solidFill>
                <a:latin typeface="Microsoft YaHei"/>
              </a:defRPr>
            </a:pPr>
            <a:r>
              <a:t>这是我们最希望深入探讨的技术方向</a:t>
            </a:r>
          </a:p>
        </p:txBody>
      </p:sp>
      <p:sp>
        <p:nvSpPr>
          <p:cNvPr id="5" name="Oval 4"/>
          <p:cNvSpPr/>
          <p:nvPr/>
        </p:nvSpPr>
        <p:spPr>
          <a:xfrm>
            <a:off x="731520" y="1737360"/>
            <a:ext cx="502920" cy="502920"/>
          </a:xfrm>
          <a:prstGeom prst="ellipse">
            <a:avLst/>
          </a:prstGeom>
          <a:solidFill>
            <a:srgbClr val="6384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2200" b="1">
                <a:solidFill>
                  <a:srgbClr val="ECF0F7"/>
                </a:solidFill>
              </a:defRPr>
            </a:pPr>
            <a:r>
              <a:t>1</a:t>
            </a:r>
          </a:p>
        </p:txBody>
      </p:sp>
      <p:sp>
        <p:nvSpPr>
          <p:cNvPr id="6" name="TextBox 5"/>
          <p:cNvSpPr txBox="1"/>
          <p:nvPr/>
        </p:nvSpPr>
        <p:spPr>
          <a:xfrm>
            <a:off x="1463040" y="1645920"/>
            <a:ext cx="2743200" cy="457200"/>
          </a:xfrm>
          <a:prstGeom prst="rect">
            <a:avLst/>
          </a:prstGeom>
          <a:noFill/>
        </p:spPr>
        <p:txBody>
          <a:bodyPr wrap="square">
            <a:spAutoFit/>
          </a:bodyPr>
          <a:lstStyle/>
          <a:p>
            <a:pPr algn="l">
              <a:defRPr sz="2000" b="1">
                <a:solidFill>
                  <a:srgbClr val="6384FF"/>
                </a:solidFill>
                <a:latin typeface="Microsoft YaHei"/>
              </a:defRPr>
            </a:pPr>
            <a:r>
              <a:t>视觉一致性</a:t>
            </a:r>
          </a:p>
        </p:txBody>
      </p:sp>
      <p:sp>
        <p:nvSpPr>
          <p:cNvPr id="7" name="TextBox 6"/>
          <p:cNvSpPr txBox="1"/>
          <p:nvPr/>
        </p:nvSpPr>
        <p:spPr>
          <a:xfrm>
            <a:off x="1463040" y="2103120"/>
            <a:ext cx="9601200" cy="1005840"/>
          </a:xfrm>
          <a:prstGeom prst="rect">
            <a:avLst/>
          </a:prstGeom>
          <a:noFill/>
        </p:spPr>
        <p:txBody>
          <a:bodyPr wrap="square">
            <a:spAutoFit/>
          </a:bodyPr>
          <a:lstStyle/>
          <a:p>
            <a:pPr algn="l">
              <a:defRPr sz="1200" b="0">
                <a:solidFill>
                  <a:srgbClr val="8A8F9E"/>
                </a:solidFill>
                <a:latin typeface="Microsoft YaHei"/>
              </a:defRPr>
            </a:pPr>
            <a:r>
              <a:t>同一商品在多角度 / 多场景 / 多批次生成时，如何保证商品本身的视觉特征（颜色、材质、形状）稳定一致？</a:t>
            </a:r>
            <a:br/>
            <a:br/>
            <a:r>
              <a:t>这是电商场景最核心的需求，也是当前视频模型与静态图模型差距最大的环节。</a:t>
            </a:r>
          </a:p>
        </p:txBody>
      </p:sp>
      <p:sp>
        <p:nvSpPr>
          <p:cNvPr id="8" name="Oval 7"/>
          <p:cNvSpPr/>
          <p:nvPr/>
        </p:nvSpPr>
        <p:spPr>
          <a:xfrm>
            <a:off x="731520" y="3291840"/>
            <a:ext cx="502920" cy="502920"/>
          </a:xfrm>
          <a:prstGeom prst="ellipse">
            <a:avLst/>
          </a:prstGeom>
          <a:solidFill>
            <a:srgbClr val="6384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2200" b="1">
                <a:solidFill>
                  <a:srgbClr val="ECF0F7"/>
                </a:solidFill>
              </a:defRPr>
            </a:pPr>
            <a:r>
              <a:t>2</a:t>
            </a:r>
          </a:p>
        </p:txBody>
      </p:sp>
      <p:sp>
        <p:nvSpPr>
          <p:cNvPr id="9" name="TextBox 8"/>
          <p:cNvSpPr txBox="1"/>
          <p:nvPr/>
        </p:nvSpPr>
        <p:spPr>
          <a:xfrm>
            <a:off x="1463040" y="3200400"/>
            <a:ext cx="2743200" cy="457200"/>
          </a:xfrm>
          <a:prstGeom prst="rect">
            <a:avLst/>
          </a:prstGeom>
          <a:noFill/>
        </p:spPr>
        <p:txBody>
          <a:bodyPr wrap="square">
            <a:spAutoFit/>
          </a:bodyPr>
          <a:lstStyle/>
          <a:p>
            <a:pPr algn="l">
              <a:defRPr sz="2000" b="1">
                <a:solidFill>
                  <a:srgbClr val="6384FF"/>
                </a:solidFill>
                <a:latin typeface="Microsoft YaHei"/>
              </a:defRPr>
            </a:pPr>
            <a:r>
              <a:t>批量生产能力</a:t>
            </a:r>
          </a:p>
        </p:txBody>
      </p:sp>
      <p:sp>
        <p:nvSpPr>
          <p:cNvPr id="10" name="TextBox 9"/>
          <p:cNvSpPr txBox="1"/>
          <p:nvPr/>
        </p:nvSpPr>
        <p:spPr>
          <a:xfrm>
            <a:off x="1463040" y="3657600"/>
            <a:ext cx="9601200" cy="1005840"/>
          </a:xfrm>
          <a:prstGeom prst="rect">
            <a:avLst/>
          </a:prstGeom>
          <a:noFill/>
        </p:spPr>
        <p:txBody>
          <a:bodyPr wrap="square">
            <a:spAutoFit/>
          </a:bodyPr>
          <a:lstStyle/>
          <a:p>
            <a:pPr algn="l">
              <a:defRPr sz="1200" b="0">
                <a:solidFill>
                  <a:srgbClr val="8A8F9E"/>
                </a:solidFill>
                <a:latin typeface="Microsoft YaHei"/>
              </a:defRPr>
            </a:pPr>
            <a:r>
              <a:t>日频数百 SKU 的生成需求下，API 的队列管理、异步回调、并发上限、错误重试机制是否能支撑工业级工作流？</a:t>
            </a:r>
            <a:br/>
            <a:br/>
            <a:r>
              <a:t>单条生成质量再高，如果无法批量化，商业价值将大幅受限。</a:t>
            </a:r>
          </a:p>
        </p:txBody>
      </p:sp>
      <p:sp>
        <p:nvSpPr>
          <p:cNvPr id="11" name="Oval 10"/>
          <p:cNvSpPr/>
          <p:nvPr/>
        </p:nvSpPr>
        <p:spPr>
          <a:xfrm>
            <a:off x="731520" y="4846320"/>
            <a:ext cx="502920" cy="502920"/>
          </a:xfrm>
          <a:prstGeom prst="ellipse">
            <a:avLst/>
          </a:prstGeom>
          <a:solidFill>
            <a:srgbClr val="6384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2200" b="1">
                <a:solidFill>
                  <a:srgbClr val="ECF0F7"/>
                </a:solidFill>
              </a:defRPr>
            </a:pPr>
            <a:r>
              <a:t>3</a:t>
            </a:r>
          </a:p>
        </p:txBody>
      </p:sp>
      <p:sp>
        <p:nvSpPr>
          <p:cNvPr id="12" name="TextBox 11"/>
          <p:cNvSpPr txBox="1"/>
          <p:nvPr/>
        </p:nvSpPr>
        <p:spPr>
          <a:xfrm>
            <a:off x="1463040" y="4754880"/>
            <a:ext cx="2743200" cy="457200"/>
          </a:xfrm>
          <a:prstGeom prst="rect">
            <a:avLst/>
          </a:prstGeom>
          <a:noFill/>
        </p:spPr>
        <p:txBody>
          <a:bodyPr wrap="square">
            <a:spAutoFit/>
          </a:bodyPr>
          <a:lstStyle/>
          <a:p>
            <a:pPr algn="l">
              <a:defRPr sz="2000" b="1">
                <a:solidFill>
                  <a:srgbClr val="6384FF"/>
                </a:solidFill>
                <a:latin typeface="Microsoft YaHei"/>
              </a:defRPr>
            </a:pPr>
            <a:r>
              <a:t>场景多样性适配</a:t>
            </a:r>
          </a:p>
        </p:txBody>
      </p:sp>
      <p:sp>
        <p:nvSpPr>
          <p:cNvPr id="13" name="TextBox 12"/>
          <p:cNvSpPr txBox="1"/>
          <p:nvPr/>
        </p:nvSpPr>
        <p:spPr>
          <a:xfrm>
            <a:off x="1463040" y="5212080"/>
            <a:ext cx="9601200" cy="1005840"/>
          </a:xfrm>
          <a:prstGeom prst="rect">
            <a:avLst/>
          </a:prstGeom>
          <a:noFill/>
        </p:spPr>
        <p:txBody>
          <a:bodyPr wrap="square">
            <a:spAutoFit/>
          </a:bodyPr>
          <a:lstStyle/>
          <a:p>
            <a:pPr algn="l">
              <a:defRPr sz="1200" b="0">
                <a:solidFill>
                  <a:srgbClr val="8A8F9E"/>
                </a:solidFill>
                <a:latin typeface="Microsoft YaHei"/>
              </a:defRPr>
            </a:pPr>
            <a:r>
              <a:t>同一商品在"白底展示 / 使用场景 / 功能演示 / KOL风格"等不同场景下的生成，能否在不重复训练的情况下灵活切换？</a:t>
            </a:r>
            <a:br/>
            <a:br/>
            <a:r>
              <a:t>知识迁移能力和 prompt 控制精度是核心变量。</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21A"/>
        </a:solidFill>
        <a:effectLst/>
      </p:bgPr>
    </p:bg>
    <p:spTree>
      <p:nvGrpSpPr>
        <p:cNvPr id="1" name=""/>
        <p:cNvGrpSpPr/>
        <p:nvPr/>
      </p:nvGrpSpPr>
      <p:grpSpPr/>
      <p:sp>
        <p:nvSpPr>
          <p:cNvPr id="2" name="Rectangle 1"/>
          <p:cNvSpPr/>
          <p:nvPr/>
        </p:nvSpPr>
        <p:spPr>
          <a:xfrm>
            <a:off x="0" y="0"/>
            <a:ext cx="12191695" cy="36576"/>
          </a:xfrm>
          <a:prstGeom prst="rect">
            <a:avLst/>
          </a:prstGeom>
          <a:solidFill>
            <a:srgbClr val="638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9144000" cy="548640"/>
          </a:xfrm>
          <a:prstGeom prst="rect">
            <a:avLst/>
          </a:prstGeom>
          <a:noFill/>
        </p:spPr>
        <p:txBody>
          <a:bodyPr wrap="square">
            <a:spAutoFit/>
          </a:bodyPr>
          <a:lstStyle/>
          <a:p>
            <a:pPr algn="l">
              <a:defRPr sz="2800" b="1">
                <a:solidFill>
                  <a:srgbClr val="ECF0F7"/>
                </a:solidFill>
                <a:latin typeface="Microsoft YaHei"/>
              </a:defRPr>
            </a:pPr>
            <a:r>
              <a:t>视频质量评估维度框架</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400" b="0">
                <a:solidFill>
                  <a:srgbClr val="8A8F9E"/>
                </a:solidFill>
                <a:latin typeface="Microsoft YaHei"/>
              </a:defRPr>
            </a:pPr>
            <a:r>
              <a:t>结构定义（具体权重为内部指标，不在此展开）</a:t>
            </a:r>
          </a:p>
        </p:txBody>
      </p:sp>
      <p:sp>
        <p:nvSpPr>
          <p:cNvPr id="5" name="Rounded Rectangle 4"/>
          <p:cNvSpPr/>
          <p:nvPr/>
        </p:nvSpPr>
        <p:spPr>
          <a:xfrm>
            <a:off x="731520" y="1737360"/>
            <a:ext cx="3474720" cy="1463040"/>
          </a:xfrm>
          <a:prstGeom prst="roundRect">
            <a:avLst>
              <a:gd name="adj" fmla="val 5000"/>
            </a:avLst>
          </a:prstGeom>
          <a:solidFill>
            <a:srgbClr val="1A1E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737360"/>
            <a:ext cx="3474720" cy="36576"/>
          </a:xfrm>
          <a:prstGeom prst="rect">
            <a:avLst/>
          </a:prstGeom>
          <a:solidFill>
            <a:srgbClr val="638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2926080" cy="457200"/>
          </a:xfrm>
          <a:prstGeom prst="rect">
            <a:avLst/>
          </a:prstGeom>
          <a:noFill/>
        </p:spPr>
        <p:txBody>
          <a:bodyPr wrap="square">
            <a:spAutoFit/>
          </a:bodyPr>
          <a:lstStyle/>
          <a:p>
            <a:pPr algn="l">
              <a:defRPr sz="1800" b="1">
                <a:solidFill>
                  <a:srgbClr val="6384FF"/>
                </a:solidFill>
                <a:latin typeface="Microsoft YaHei"/>
              </a:defRPr>
            </a:pPr>
            <a:r>
              <a:t>视觉质量</a:t>
            </a:r>
          </a:p>
        </p:txBody>
      </p:sp>
      <p:sp>
        <p:nvSpPr>
          <p:cNvPr id="8" name="TextBox 7"/>
          <p:cNvSpPr txBox="1"/>
          <p:nvPr/>
        </p:nvSpPr>
        <p:spPr>
          <a:xfrm>
            <a:off x="1005840" y="2468880"/>
            <a:ext cx="2926080" cy="640080"/>
          </a:xfrm>
          <a:prstGeom prst="rect">
            <a:avLst/>
          </a:prstGeom>
          <a:noFill/>
        </p:spPr>
        <p:txBody>
          <a:bodyPr wrap="square">
            <a:spAutoFit/>
          </a:bodyPr>
          <a:lstStyle/>
          <a:p>
            <a:pPr algn="l">
              <a:defRPr sz="1200" b="0">
                <a:solidFill>
                  <a:srgbClr val="8A8F9E"/>
                </a:solidFill>
                <a:latin typeface="Microsoft YaHei"/>
              </a:defRPr>
            </a:pPr>
            <a:r>
              <a:t>清晰度 / 光影一致性</a:t>
            </a:r>
            <a:br/>
            <a:r>
              <a:t>色彩还原 / 画面稳定性</a:t>
            </a:r>
          </a:p>
        </p:txBody>
      </p:sp>
      <p:sp>
        <p:nvSpPr>
          <p:cNvPr id="9" name="Rounded Rectangle 8"/>
          <p:cNvSpPr/>
          <p:nvPr/>
        </p:nvSpPr>
        <p:spPr>
          <a:xfrm>
            <a:off x="4206240" y="1737360"/>
            <a:ext cx="3474720" cy="1463040"/>
          </a:xfrm>
          <a:prstGeom prst="roundRect">
            <a:avLst>
              <a:gd name="adj" fmla="val 5000"/>
            </a:avLst>
          </a:prstGeom>
          <a:solidFill>
            <a:srgbClr val="1A1E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06240" y="1737360"/>
            <a:ext cx="3474720" cy="365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1920240"/>
            <a:ext cx="2926080" cy="457200"/>
          </a:xfrm>
          <a:prstGeom prst="rect">
            <a:avLst/>
          </a:prstGeom>
          <a:noFill/>
        </p:spPr>
        <p:txBody>
          <a:bodyPr wrap="square">
            <a:spAutoFit/>
          </a:bodyPr>
          <a:lstStyle/>
          <a:p>
            <a:pPr algn="l">
              <a:defRPr sz="1800" b="1">
                <a:solidFill>
                  <a:srgbClr val="7C3AED"/>
                </a:solidFill>
                <a:latin typeface="Microsoft YaHei"/>
              </a:defRPr>
            </a:pPr>
            <a:r>
              <a:t>品牌一致性</a:t>
            </a:r>
          </a:p>
        </p:txBody>
      </p:sp>
      <p:sp>
        <p:nvSpPr>
          <p:cNvPr id="12" name="TextBox 11"/>
          <p:cNvSpPr txBox="1"/>
          <p:nvPr/>
        </p:nvSpPr>
        <p:spPr>
          <a:xfrm>
            <a:off x="4480560" y="2468880"/>
            <a:ext cx="2926080" cy="640080"/>
          </a:xfrm>
          <a:prstGeom prst="rect">
            <a:avLst/>
          </a:prstGeom>
          <a:noFill/>
        </p:spPr>
        <p:txBody>
          <a:bodyPr wrap="square">
            <a:spAutoFit/>
          </a:bodyPr>
          <a:lstStyle/>
          <a:p>
            <a:pPr algn="l">
              <a:defRPr sz="1200" b="0">
                <a:solidFill>
                  <a:srgbClr val="8A8F9E"/>
                </a:solidFill>
                <a:latin typeface="Microsoft YaHei"/>
              </a:defRPr>
            </a:pPr>
            <a:r>
              <a:t>Logo 呈现 / 品牌色匹配</a:t>
            </a:r>
            <a:br/>
            <a:r>
              <a:t>调性一致性</a:t>
            </a:r>
          </a:p>
        </p:txBody>
      </p:sp>
      <p:sp>
        <p:nvSpPr>
          <p:cNvPr id="13" name="Rounded Rectangle 12"/>
          <p:cNvSpPr/>
          <p:nvPr/>
        </p:nvSpPr>
        <p:spPr>
          <a:xfrm>
            <a:off x="7680960" y="1737360"/>
            <a:ext cx="3474720" cy="1463040"/>
          </a:xfrm>
          <a:prstGeom prst="roundRect">
            <a:avLst>
              <a:gd name="adj" fmla="val 5000"/>
            </a:avLst>
          </a:prstGeom>
          <a:solidFill>
            <a:srgbClr val="1A1E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680960" y="1737360"/>
            <a:ext cx="3474720" cy="36576"/>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55280" y="1920240"/>
            <a:ext cx="2926080" cy="457200"/>
          </a:xfrm>
          <a:prstGeom prst="rect">
            <a:avLst/>
          </a:prstGeom>
          <a:noFill/>
        </p:spPr>
        <p:txBody>
          <a:bodyPr wrap="square">
            <a:spAutoFit/>
          </a:bodyPr>
          <a:lstStyle/>
          <a:p>
            <a:pPr algn="l">
              <a:defRPr sz="1800" b="1">
                <a:solidFill>
                  <a:srgbClr val="FF6B6B"/>
                </a:solidFill>
                <a:latin typeface="Microsoft YaHei"/>
              </a:defRPr>
            </a:pPr>
            <a:r>
              <a:t>商品还原度</a:t>
            </a:r>
          </a:p>
        </p:txBody>
      </p:sp>
      <p:sp>
        <p:nvSpPr>
          <p:cNvPr id="16" name="TextBox 15"/>
          <p:cNvSpPr txBox="1"/>
          <p:nvPr/>
        </p:nvSpPr>
        <p:spPr>
          <a:xfrm>
            <a:off x="7955280" y="2468880"/>
            <a:ext cx="2926080" cy="640080"/>
          </a:xfrm>
          <a:prstGeom prst="rect">
            <a:avLst/>
          </a:prstGeom>
          <a:noFill/>
        </p:spPr>
        <p:txBody>
          <a:bodyPr wrap="square">
            <a:spAutoFit/>
          </a:bodyPr>
          <a:lstStyle/>
          <a:p>
            <a:pPr algn="l">
              <a:defRPr sz="1200" b="0">
                <a:solidFill>
                  <a:srgbClr val="8A8F9E"/>
                </a:solidFill>
                <a:latin typeface="Microsoft YaHei"/>
              </a:defRPr>
            </a:pPr>
            <a:r>
              <a:t>商品外形 / 材质 / 颜色</a:t>
            </a:r>
            <a:br/>
            <a:r>
              <a:t>与实物的偏差度</a:t>
            </a:r>
          </a:p>
        </p:txBody>
      </p:sp>
      <p:sp>
        <p:nvSpPr>
          <p:cNvPr id="17" name="Rounded Rectangle 16"/>
          <p:cNvSpPr/>
          <p:nvPr/>
        </p:nvSpPr>
        <p:spPr>
          <a:xfrm>
            <a:off x="2926080" y="3657600"/>
            <a:ext cx="3474720" cy="1463040"/>
          </a:xfrm>
          <a:prstGeom prst="roundRect">
            <a:avLst>
              <a:gd name="adj" fmla="val 5000"/>
            </a:avLst>
          </a:prstGeom>
          <a:solidFill>
            <a:srgbClr val="1A1E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26080" y="3657600"/>
            <a:ext cx="3474720" cy="36576"/>
          </a:xfrm>
          <a:prstGeom prst="rect">
            <a:avLst/>
          </a:prstGeom>
          <a:solidFill>
            <a:srgbClr val="FFA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00400" y="3840480"/>
            <a:ext cx="2926080" cy="457200"/>
          </a:xfrm>
          <a:prstGeom prst="rect">
            <a:avLst/>
          </a:prstGeom>
          <a:noFill/>
        </p:spPr>
        <p:txBody>
          <a:bodyPr wrap="square">
            <a:spAutoFit/>
          </a:bodyPr>
          <a:lstStyle/>
          <a:p>
            <a:pPr algn="l">
              <a:defRPr sz="1800" b="1">
                <a:solidFill>
                  <a:srgbClr val="FFA53A"/>
                </a:solidFill>
                <a:latin typeface="Microsoft YaHei"/>
              </a:defRPr>
            </a:pPr>
            <a:r>
              <a:t>场景适配度</a:t>
            </a:r>
          </a:p>
        </p:txBody>
      </p:sp>
      <p:sp>
        <p:nvSpPr>
          <p:cNvPr id="20" name="TextBox 19"/>
          <p:cNvSpPr txBox="1"/>
          <p:nvPr/>
        </p:nvSpPr>
        <p:spPr>
          <a:xfrm>
            <a:off x="3200400" y="4389120"/>
            <a:ext cx="2926080" cy="640080"/>
          </a:xfrm>
          <a:prstGeom prst="rect">
            <a:avLst/>
          </a:prstGeom>
          <a:noFill/>
        </p:spPr>
        <p:txBody>
          <a:bodyPr wrap="square">
            <a:spAutoFit/>
          </a:bodyPr>
          <a:lstStyle/>
          <a:p>
            <a:pPr algn="l">
              <a:defRPr sz="1200" b="0">
                <a:solidFill>
                  <a:srgbClr val="8A8F9E"/>
                </a:solidFill>
                <a:latin typeface="Microsoft YaHei"/>
              </a:defRPr>
            </a:pPr>
            <a:r>
              <a:t>场景合理性 / 平台调性匹配</a:t>
            </a:r>
            <a:br/>
            <a:r>
              <a:t>目标受众契合度</a:t>
            </a:r>
          </a:p>
        </p:txBody>
      </p:sp>
      <p:sp>
        <p:nvSpPr>
          <p:cNvPr id="21" name="Rounded Rectangle 20"/>
          <p:cNvSpPr/>
          <p:nvPr/>
        </p:nvSpPr>
        <p:spPr>
          <a:xfrm>
            <a:off x="6400800" y="3657600"/>
            <a:ext cx="3474720" cy="1463040"/>
          </a:xfrm>
          <a:prstGeom prst="roundRect">
            <a:avLst>
              <a:gd name="adj" fmla="val 5000"/>
            </a:avLst>
          </a:prstGeom>
          <a:solidFill>
            <a:srgbClr val="1A1E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800" y="3657600"/>
            <a:ext cx="3474720" cy="36576"/>
          </a:xfrm>
          <a:prstGeom prst="rect">
            <a:avLst/>
          </a:prstGeom>
          <a:solidFill>
            <a:srgbClr val="51CF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75120" y="3840480"/>
            <a:ext cx="2926080" cy="457200"/>
          </a:xfrm>
          <a:prstGeom prst="rect">
            <a:avLst/>
          </a:prstGeom>
          <a:noFill/>
        </p:spPr>
        <p:txBody>
          <a:bodyPr wrap="square">
            <a:spAutoFit/>
          </a:bodyPr>
          <a:lstStyle/>
          <a:p>
            <a:pPr algn="l">
              <a:defRPr sz="1800" b="1">
                <a:solidFill>
                  <a:srgbClr val="51CF66"/>
                </a:solidFill>
                <a:latin typeface="Microsoft YaHei"/>
              </a:defRPr>
            </a:pPr>
            <a:r>
              <a:t>商业有效性</a:t>
            </a:r>
          </a:p>
        </p:txBody>
      </p:sp>
      <p:sp>
        <p:nvSpPr>
          <p:cNvPr id="24" name="TextBox 23"/>
          <p:cNvSpPr txBox="1"/>
          <p:nvPr/>
        </p:nvSpPr>
        <p:spPr>
          <a:xfrm>
            <a:off x="6675120" y="4389120"/>
            <a:ext cx="2926080" cy="640080"/>
          </a:xfrm>
          <a:prstGeom prst="rect">
            <a:avLst/>
          </a:prstGeom>
          <a:noFill/>
        </p:spPr>
        <p:txBody>
          <a:bodyPr wrap="square">
            <a:spAutoFit/>
          </a:bodyPr>
          <a:lstStyle/>
          <a:p>
            <a:pPr algn="l">
              <a:defRPr sz="1200" b="0">
                <a:solidFill>
                  <a:srgbClr val="8A8F9E"/>
                </a:solidFill>
                <a:latin typeface="Microsoft YaHei"/>
              </a:defRPr>
            </a:pPr>
            <a:r>
              <a:t>点击转化潜力 / 信息传递效率</a:t>
            </a:r>
            <a:br/>
            <a:r>
              <a:t>CTA 配合度</a:t>
            </a:r>
          </a:p>
        </p:txBody>
      </p:sp>
      <p:sp>
        <p:nvSpPr>
          <p:cNvPr id="25" name="Oval 24"/>
          <p:cNvSpPr/>
          <p:nvPr/>
        </p:nvSpPr>
        <p:spPr>
          <a:xfrm>
            <a:off x="5120640" y="2468880"/>
            <a:ext cx="1645920" cy="1645920"/>
          </a:xfrm>
          <a:prstGeom prst="ellipse">
            <a:avLst/>
          </a:prstGeom>
          <a:solidFill>
            <a:srgbClr val="1A1E28"/>
          </a:solidFill>
          <a:ln w="25400">
            <a:solidFill>
              <a:srgbClr val="638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6384FF"/>
                </a:solidFill>
              </a:defRPr>
            </a:pPr>
            <a:r>
              <a:t>质量</a:t>
            </a:r>
            <a:br/>
            <a:r>
              <a:t>评估</a:t>
            </a:r>
            <a:br/>
            <a:r>
              <a:t>体系</a:t>
            </a:r>
          </a:p>
        </p:txBody>
      </p:sp>
      <p:sp>
        <p:nvSpPr>
          <p:cNvPr id="26" name="TextBox 25"/>
          <p:cNvSpPr txBox="1"/>
          <p:nvPr/>
        </p:nvSpPr>
        <p:spPr>
          <a:xfrm>
            <a:off x="731520" y="5669280"/>
            <a:ext cx="9144000" cy="365760"/>
          </a:xfrm>
          <a:prstGeom prst="rect">
            <a:avLst/>
          </a:prstGeom>
          <a:noFill/>
        </p:spPr>
        <p:txBody>
          <a:bodyPr wrap="square">
            <a:spAutoFit/>
          </a:bodyPr>
          <a:lstStyle/>
          <a:p>
            <a:pPr algn="l">
              <a:defRPr sz="1100" b="0">
                <a:solidFill>
                  <a:srgbClr val="636373"/>
                </a:solidFill>
                <a:latin typeface="Microsoft YaHei"/>
              </a:defRPr>
            </a:pPr>
            <a:r>
              <a:t>框架的核心价值不在于维度定义（此类框架行业常见），而在于每个维度的评价标准和权重分配——这是场景经验积累的核心资产。</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21A"/>
        </a:solidFill>
        <a:effectLst/>
      </p:bgPr>
    </p:bg>
    <p:spTree>
      <p:nvGrpSpPr>
        <p:cNvPr id="1" name=""/>
        <p:cNvGrpSpPr/>
        <p:nvPr/>
      </p:nvGrpSpPr>
      <p:grpSpPr/>
      <p:sp>
        <p:nvSpPr>
          <p:cNvPr id="2" name="Rectangle 1"/>
          <p:cNvSpPr/>
          <p:nvPr/>
        </p:nvSpPr>
        <p:spPr>
          <a:xfrm>
            <a:off x="0" y="0"/>
            <a:ext cx="12191695" cy="36576"/>
          </a:xfrm>
          <a:prstGeom prst="rect">
            <a:avLst/>
          </a:prstGeom>
          <a:solidFill>
            <a:srgbClr val="638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9144000" cy="548640"/>
          </a:xfrm>
          <a:prstGeom prst="rect">
            <a:avLst/>
          </a:prstGeom>
          <a:noFill/>
        </p:spPr>
        <p:txBody>
          <a:bodyPr wrap="square">
            <a:spAutoFit/>
          </a:bodyPr>
          <a:lstStyle/>
          <a:p>
            <a:pPr algn="l">
              <a:defRPr sz="2800" b="1">
                <a:solidFill>
                  <a:srgbClr val="ECF0F7"/>
                </a:solidFill>
                <a:latin typeface="Microsoft YaHei"/>
              </a:defRPr>
            </a:pPr>
            <a:r>
              <a:t>合作设想</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400" b="0">
                <a:solidFill>
                  <a:srgbClr val="8A8F9E"/>
                </a:solidFill>
                <a:latin typeface="Microsoft YaHei"/>
              </a:defRPr>
            </a:pPr>
            <a:r>
              <a:t>开放讨论 · 期待深入了解 VIDU 的方向与能力</a:t>
            </a:r>
          </a:p>
        </p:txBody>
      </p:sp>
      <p:sp>
        <p:nvSpPr>
          <p:cNvPr id="5" name="Rounded Rectangle 4"/>
          <p:cNvSpPr/>
          <p:nvPr/>
        </p:nvSpPr>
        <p:spPr>
          <a:xfrm>
            <a:off x="731520" y="1737360"/>
            <a:ext cx="3383280" cy="3200400"/>
          </a:xfrm>
          <a:prstGeom prst="roundRect">
            <a:avLst>
              <a:gd name="adj" fmla="val 5000"/>
            </a:avLst>
          </a:prstGeom>
          <a:solidFill>
            <a:srgbClr val="1A1E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737360"/>
            <a:ext cx="3383280" cy="36576"/>
          </a:xfrm>
          <a:prstGeom prst="rect">
            <a:avLst/>
          </a:prstGeom>
          <a:solidFill>
            <a:srgbClr val="638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103120"/>
            <a:ext cx="2834640" cy="457200"/>
          </a:xfrm>
          <a:prstGeom prst="rect">
            <a:avLst/>
          </a:prstGeom>
          <a:noFill/>
        </p:spPr>
        <p:txBody>
          <a:bodyPr wrap="square">
            <a:spAutoFit/>
          </a:bodyPr>
          <a:lstStyle/>
          <a:p>
            <a:pPr algn="l">
              <a:defRPr sz="2000" b="1">
                <a:solidFill>
                  <a:srgbClr val="6384FF"/>
                </a:solidFill>
                <a:latin typeface="Microsoft YaHei"/>
              </a:defRPr>
            </a:pPr>
            <a:r>
              <a:t>技术验证</a:t>
            </a:r>
          </a:p>
        </p:txBody>
      </p:sp>
      <p:sp>
        <p:nvSpPr>
          <p:cNvPr id="8" name="TextBox 7"/>
          <p:cNvSpPr txBox="1"/>
          <p:nvPr/>
        </p:nvSpPr>
        <p:spPr>
          <a:xfrm>
            <a:off x="1005840" y="2743200"/>
            <a:ext cx="2834640" cy="1828800"/>
          </a:xfrm>
          <a:prstGeom prst="rect">
            <a:avLst/>
          </a:prstGeom>
          <a:noFill/>
        </p:spPr>
        <p:txBody>
          <a:bodyPr wrap="square">
            <a:spAutoFit/>
          </a:bodyPr>
          <a:lstStyle/>
          <a:p>
            <a:pPr algn="l">
              <a:defRPr sz="1300" b="0">
                <a:solidFill>
                  <a:srgbClr val="8A8F9E"/>
                </a:solidFill>
                <a:latin typeface="Microsoft YaHei"/>
              </a:defRPr>
            </a:pPr>
            <a:r>
              <a:t>以电商典型场景（服装 / 美妆 / 3C / 食品）</a:t>
            </a:r>
            <a:br/>
            <a:r>
              <a:t>进行批量视频生成测试，</a:t>
            </a:r>
            <a:br/>
            <a:r>
              <a:t>基于质量评估框架输出结构化反馈。</a:t>
            </a:r>
          </a:p>
        </p:txBody>
      </p:sp>
      <p:sp>
        <p:nvSpPr>
          <p:cNvPr id="9" name="TextBox 8"/>
          <p:cNvSpPr txBox="1"/>
          <p:nvPr/>
        </p:nvSpPr>
        <p:spPr>
          <a:xfrm>
            <a:off x="1005840" y="4572000"/>
            <a:ext cx="2834640" cy="274320"/>
          </a:xfrm>
          <a:prstGeom prst="rect">
            <a:avLst/>
          </a:prstGeom>
          <a:noFill/>
        </p:spPr>
        <p:txBody>
          <a:bodyPr wrap="square">
            <a:spAutoFit/>
          </a:bodyPr>
          <a:lstStyle/>
          <a:p>
            <a:pPr algn="l">
              <a:defRPr sz="3200" b="1">
                <a:solidFill>
                  <a:srgbClr val="2A2E3A"/>
                </a:solidFill>
                <a:latin typeface="Microsoft YaHei"/>
              </a:defRPr>
            </a:pPr>
            <a:r>
              <a:t>01</a:t>
            </a:r>
          </a:p>
        </p:txBody>
      </p:sp>
      <p:sp>
        <p:nvSpPr>
          <p:cNvPr id="10" name="Rounded Rectangle 9"/>
          <p:cNvSpPr/>
          <p:nvPr/>
        </p:nvSpPr>
        <p:spPr>
          <a:xfrm>
            <a:off x="4480559" y="1737360"/>
            <a:ext cx="3383280" cy="3200400"/>
          </a:xfrm>
          <a:prstGeom prst="roundRect">
            <a:avLst>
              <a:gd name="adj" fmla="val 5000"/>
            </a:avLst>
          </a:prstGeom>
          <a:solidFill>
            <a:srgbClr val="1A1E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80559" y="1737360"/>
            <a:ext cx="3383280" cy="36576"/>
          </a:xfrm>
          <a:prstGeom prst="rect">
            <a:avLst/>
          </a:prstGeom>
          <a:solidFill>
            <a:srgbClr val="638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79" y="2103120"/>
            <a:ext cx="2834640" cy="457200"/>
          </a:xfrm>
          <a:prstGeom prst="rect">
            <a:avLst/>
          </a:prstGeom>
          <a:noFill/>
        </p:spPr>
        <p:txBody>
          <a:bodyPr wrap="square">
            <a:spAutoFit/>
          </a:bodyPr>
          <a:lstStyle/>
          <a:p>
            <a:pPr algn="l">
              <a:defRPr sz="2000" b="1">
                <a:solidFill>
                  <a:srgbClr val="6384FF"/>
                </a:solidFill>
                <a:latin typeface="Microsoft YaHei"/>
              </a:defRPr>
            </a:pPr>
            <a:r>
              <a:t>接口适配</a:t>
            </a:r>
          </a:p>
        </p:txBody>
      </p:sp>
      <p:sp>
        <p:nvSpPr>
          <p:cNvPr id="13" name="TextBox 12"/>
          <p:cNvSpPr txBox="1"/>
          <p:nvPr/>
        </p:nvSpPr>
        <p:spPr>
          <a:xfrm>
            <a:off x="4754879" y="2743200"/>
            <a:ext cx="2834640" cy="1828800"/>
          </a:xfrm>
          <a:prstGeom prst="rect">
            <a:avLst/>
          </a:prstGeom>
          <a:noFill/>
        </p:spPr>
        <p:txBody>
          <a:bodyPr wrap="square">
            <a:spAutoFit/>
          </a:bodyPr>
          <a:lstStyle/>
          <a:p>
            <a:pPr algn="l">
              <a:defRPr sz="1300" b="0">
                <a:solidFill>
                  <a:srgbClr val="8A8F9E"/>
                </a:solidFill>
                <a:latin typeface="Microsoft YaHei"/>
              </a:defRPr>
            </a:pPr>
            <a:r>
              <a:t>探索 VIDU API 与现有工作流的深度集成，</a:t>
            </a:r>
            <a:br/>
            <a:r>
              <a:t>重点验证异步回调、批量队列、</a:t>
            </a:r>
            <a:br/>
            <a:r>
              <a:t>一致性控制等核心能力。</a:t>
            </a:r>
          </a:p>
        </p:txBody>
      </p:sp>
      <p:sp>
        <p:nvSpPr>
          <p:cNvPr id="14" name="TextBox 13"/>
          <p:cNvSpPr txBox="1"/>
          <p:nvPr/>
        </p:nvSpPr>
        <p:spPr>
          <a:xfrm>
            <a:off x="4754879" y="4572000"/>
            <a:ext cx="2834640" cy="274320"/>
          </a:xfrm>
          <a:prstGeom prst="rect">
            <a:avLst/>
          </a:prstGeom>
          <a:noFill/>
        </p:spPr>
        <p:txBody>
          <a:bodyPr wrap="square">
            <a:spAutoFit/>
          </a:bodyPr>
          <a:lstStyle/>
          <a:p>
            <a:pPr algn="l">
              <a:defRPr sz="3200" b="1">
                <a:solidFill>
                  <a:srgbClr val="2A2E3A"/>
                </a:solidFill>
                <a:latin typeface="Microsoft YaHei"/>
              </a:defRPr>
            </a:pPr>
            <a:r>
              <a:t>02</a:t>
            </a:r>
          </a:p>
        </p:txBody>
      </p:sp>
      <p:sp>
        <p:nvSpPr>
          <p:cNvPr id="15" name="Rounded Rectangle 14"/>
          <p:cNvSpPr/>
          <p:nvPr/>
        </p:nvSpPr>
        <p:spPr>
          <a:xfrm>
            <a:off x="8229598" y="1737360"/>
            <a:ext cx="3383280" cy="3200400"/>
          </a:xfrm>
          <a:prstGeom prst="roundRect">
            <a:avLst>
              <a:gd name="adj" fmla="val 5000"/>
            </a:avLst>
          </a:prstGeom>
          <a:solidFill>
            <a:srgbClr val="1A1E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598" y="1737360"/>
            <a:ext cx="3383280" cy="36576"/>
          </a:xfrm>
          <a:prstGeom prst="rect">
            <a:avLst/>
          </a:prstGeom>
          <a:solidFill>
            <a:srgbClr val="638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18" y="2103120"/>
            <a:ext cx="2834640" cy="457200"/>
          </a:xfrm>
          <a:prstGeom prst="rect">
            <a:avLst/>
          </a:prstGeom>
          <a:noFill/>
        </p:spPr>
        <p:txBody>
          <a:bodyPr wrap="square">
            <a:spAutoFit/>
          </a:bodyPr>
          <a:lstStyle/>
          <a:p>
            <a:pPr algn="l">
              <a:defRPr sz="2000" b="1">
                <a:solidFill>
                  <a:srgbClr val="6384FF"/>
                </a:solidFill>
                <a:latin typeface="Microsoft YaHei"/>
              </a:defRPr>
            </a:pPr>
            <a:r>
              <a:t>长期协作</a:t>
            </a:r>
          </a:p>
        </p:txBody>
      </p:sp>
      <p:sp>
        <p:nvSpPr>
          <p:cNvPr id="18" name="TextBox 17"/>
          <p:cNvSpPr txBox="1"/>
          <p:nvPr/>
        </p:nvSpPr>
        <p:spPr>
          <a:xfrm>
            <a:off x="8503918" y="2743200"/>
            <a:ext cx="2834640" cy="1828800"/>
          </a:xfrm>
          <a:prstGeom prst="rect">
            <a:avLst/>
          </a:prstGeom>
          <a:noFill/>
        </p:spPr>
        <p:txBody>
          <a:bodyPr wrap="square">
            <a:spAutoFit/>
          </a:bodyPr>
          <a:lstStyle/>
          <a:p>
            <a:pPr algn="l">
              <a:defRPr sz="1300" b="0">
                <a:solidFill>
                  <a:srgbClr val="8A8F9E"/>
                </a:solidFill>
                <a:latin typeface="Microsoft YaHei"/>
              </a:defRPr>
            </a:pPr>
            <a:r>
              <a:t>基于验证结果探讨更深入的合作模式，</a:t>
            </a:r>
            <a:br/>
            <a:r>
              <a:t>包括联合方案、行业参考实践、</a:t>
            </a:r>
            <a:br/>
            <a:r>
              <a:t>产品线共同迭代。</a:t>
            </a:r>
          </a:p>
        </p:txBody>
      </p:sp>
      <p:sp>
        <p:nvSpPr>
          <p:cNvPr id="19" name="TextBox 18"/>
          <p:cNvSpPr txBox="1"/>
          <p:nvPr/>
        </p:nvSpPr>
        <p:spPr>
          <a:xfrm>
            <a:off x="8503918" y="4572000"/>
            <a:ext cx="2834640" cy="274320"/>
          </a:xfrm>
          <a:prstGeom prst="rect">
            <a:avLst/>
          </a:prstGeom>
          <a:noFill/>
        </p:spPr>
        <p:txBody>
          <a:bodyPr wrap="square">
            <a:spAutoFit/>
          </a:bodyPr>
          <a:lstStyle/>
          <a:p>
            <a:pPr algn="l">
              <a:defRPr sz="3200" b="1">
                <a:solidFill>
                  <a:srgbClr val="2A2E3A"/>
                </a:solidFill>
                <a:latin typeface="Microsoft YaHei"/>
              </a:defRPr>
            </a:pPr>
            <a:r>
              <a:t>03</a:t>
            </a:r>
          </a:p>
        </p:txBody>
      </p:sp>
      <p:sp>
        <p:nvSpPr>
          <p:cNvPr id="20" name="TextBox 19"/>
          <p:cNvSpPr txBox="1"/>
          <p:nvPr/>
        </p:nvSpPr>
        <p:spPr>
          <a:xfrm>
            <a:off x="731520" y="5486400"/>
            <a:ext cx="10058400" cy="457200"/>
          </a:xfrm>
          <a:prstGeom prst="rect">
            <a:avLst/>
          </a:prstGeom>
          <a:noFill/>
        </p:spPr>
        <p:txBody>
          <a:bodyPr wrap="square">
            <a:spAutoFit/>
          </a:bodyPr>
          <a:lstStyle/>
          <a:p>
            <a:pPr algn="l">
              <a:defRPr sz="1400" b="0">
                <a:solidFill>
                  <a:srgbClr val="6384FF"/>
                </a:solidFill>
                <a:latin typeface="Microsoft YaHei"/>
              </a:defRPr>
            </a:pPr>
            <a:r>
              <a:t>期待今天的交流能帮助我们找到技术能力与业务场景之间的最佳结合点。</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